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475488"/>
            <a:ext cx="4206240" cy="42062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AF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1115568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C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1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자동화 스택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640080" y="950976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소개용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API + VLM 스택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22860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docs/research, docs/setup_vlms, poc/work2를 기준으로 정리한 벤치마크 중심 소개 자료입니다.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계보, 강점과 한계, Flask 프록시 사용법, 이미지 전송, OCR, 프롬프트, 파이프라인 설계를 다룹니다.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58368" y="318211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240280" y="318211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 API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822192" y="318211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+ GUI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537960" y="804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설치된 프록시 서빙 모델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37960" y="10789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비교용 direct baseline을 포함한 현재 운영 모델 구성입니다.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510528" y="1481328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28816" y="1499616"/>
            <a:ext cx="91440" cy="6217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211312" y="16276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1차 grounding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510528" y="2322576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28816" y="2340864"/>
            <a:ext cx="9144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2468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211312" y="24688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대안이자 agent형 planner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510528" y="3163824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28816" y="3182112"/>
            <a:ext cx="91440" cy="6217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3310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211312" y="331012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crop 재판독 sidecar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510528" y="4005072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28816" y="4023360"/>
            <a:ext cx="91440" cy="62179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4151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211312" y="415137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OCR 및 구조 추출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510528" y="4846320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28816" y="4864608"/>
            <a:ext cx="91440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9984" y="4992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8211312" y="49926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영역용 hard OCR fallback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640080" y="59893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온보딩용으로 재정리한 research / setup 맵을 기준으로 구성했습니다.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docs/research/flask_vlm_coworker_research_map.md, docs/setup_vlms/flask_vlm_coworker_setup_map.md, poc/work2/flask_vlm.py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마크다운 자료 정리 방식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research map으로 벤치마크와 모델 역할을 잡고, 그다음 setup map으로 배포와 coworker-facing API 사용 흐름을 설명하는 구조입니다.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25880"/>
            <a:ext cx="5394960" cy="4096512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44168"/>
            <a:ext cx="53583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72184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27632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993392"/>
            <a:ext cx="506577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기본 읽기 순서: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gui_model_selection_and_benchmark_plan.md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deploy_vlms_model_roles_and_pipeline_research.md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paddleocr_vl_ui_venus_pipeline_research.md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때만 보는 deep dive: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vllm_runtime_and_unsloth_finetuning.md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encode_decode_and_model_architecture.md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pagedattention_and_prefix_caching.md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5376672" cy="4096512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0488" y="1344168"/>
            <a:ext cx="534009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472184"/>
            <a:ext cx="5047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셋업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336792" y="1627632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docs/setup_vlms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6792" y="1993392"/>
            <a:ext cx="5047488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 읽기 순서: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README.md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01-layout-and-settings.md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03-operations-and-repo-integration.md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기동 상세: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02-serve-ui-venus-and-mai-ui.md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05-ui-tars-vs-others.md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07-paddleocr-vl-1.5.md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08-got-ocr-2.0-hf.md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58368" y="5596128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F2F6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74243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코드 앵커: flask_vlm.py -&gt; registry와 기본값 | connection_check.py -&gt; 실제 route 확인 | vlm_client.py -&gt; 이미지 요청 | prompts/* -&gt; 작업별 프롬프트 계약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docs/research/flask_vlm_coworker_research_map.md, docs/setup_vlms/flask_vlm_coworker_setup_map.md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리서치 기준 비교 순서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원칙은 명확합니다. 설치된 5개 모델을 매 step 모두 호출하지 말고, primary GUI 비교와 조건부 sidecar escalation을 분리해야 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2542032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정면 비교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Kimi-K2.5, Qwen3-VL-30B-Instruct, UI-Venus, UI-TARS를 같은 스크린샷 세트에서 sidecar 없이 비교합니다.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44728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5576" y="1353312"/>
            <a:ext cx="25420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61188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 추가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승자를 고른 뒤에만 MAI-UI를 붙입니다. 작은 버튼, 과밀 탭, local crop retry에 씁니다.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3620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353312"/>
            <a:ext cx="2542032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40080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 추가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parameter panel, table, exact string 검증이 필요할 때 PaddleOCR-VL을 붙입니다.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02512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43416" y="1353312"/>
            <a:ext cx="254203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4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18972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 fallback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972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 민감 OCR이나 hard small-crop 실패에만 GOT-OCR로 escalation합니다.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34290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447288"/>
            <a:ext cx="51297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575304"/>
            <a:ext cx="4837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22960" y="373075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규칙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77824" y="409651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400507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스크린샷 세트와 같은 task 세트를 유지합니다.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77824" y="441655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432511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단계에서 primary 모델 비교와 sidecar 변경을 섞지 않습니다.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877824" y="473659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64515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MAI-UI는 전체 화면 기본값이 아니라 crop sidecar로 봅니다.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77824" y="505663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496519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모델은 click planner가 아니라 exact-text authority로 둡니다.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108192" y="34290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447288"/>
            <a:ext cx="544982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3575304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272784" y="3730752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유형을 직접 측정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327648" y="40599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3968496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element hit rate (타깃 적중률)</a:t>
            </a:r>
            <a:endParaRPr lang="en-US" sz="895" dirty="0"/>
          </a:p>
        </p:txBody>
      </p:sp>
      <p:sp>
        <p:nvSpPr>
          <p:cNvPr id="47" name="Shape 45"/>
          <p:cNvSpPr/>
          <p:nvPr/>
        </p:nvSpPr>
        <p:spPr>
          <a:xfrm>
            <a:off x="6327648" y="432511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4233672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click-point drift (px)</a:t>
            </a:r>
            <a:endParaRPr lang="en-US" sz="895" dirty="0"/>
          </a:p>
        </p:txBody>
      </p:sp>
      <p:sp>
        <p:nvSpPr>
          <p:cNvPr id="49" name="Shape 47"/>
          <p:cNvSpPr/>
          <p:nvPr/>
        </p:nvSpPr>
        <p:spPr>
          <a:xfrm>
            <a:off x="6327648" y="45902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4498848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count / sidecar escalation rate</a:t>
            </a:r>
            <a:endParaRPr lang="en-US" sz="895" dirty="0"/>
          </a:p>
        </p:txBody>
      </p:sp>
      <p:sp>
        <p:nvSpPr>
          <p:cNvPr id="51" name="Shape 49"/>
          <p:cNvSpPr/>
          <p:nvPr/>
        </p:nvSpPr>
        <p:spPr>
          <a:xfrm>
            <a:off x="6327648" y="48554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4764024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completion rate</a:t>
            </a:r>
            <a:endParaRPr lang="en-US" sz="895" dirty="0"/>
          </a:p>
        </p:txBody>
      </p:sp>
      <p:sp>
        <p:nvSpPr>
          <p:cNvPr id="53" name="Shape 51"/>
          <p:cNvSpPr/>
          <p:nvPr/>
        </p:nvSpPr>
        <p:spPr>
          <a:xfrm>
            <a:off x="6327648" y="51206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5029200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small-text OCR recall</a:t>
            </a:r>
            <a:endParaRPr lang="en-US" sz="895" dirty="0"/>
          </a:p>
        </p:txBody>
      </p:sp>
      <p:sp>
        <p:nvSpPr>
          <p:cNvPr id="55" name="Shape 53"/>
          <p:cNvSpPr/>
          <p:nvPr/>
        </p:nvSpPr>
        <p:spPr>
          <a:xfrm>
            <a:off x="6327648" y="538581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5294376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895" dirty="0"/>
          </a:p>
        </p:txBody>
      </p:sp>
      <p:sp>
        <p:nvSpPr>
          <p:cNvPr id="57" name="Text 55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docs/research/gui_model_selection_and_benchmark_plan.md, docs/research/deploy_vlms_model_roles_and_pipeline_research.md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구성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설치된 5개 모델의 역할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스택은 의도적으로 비대칭입니다. GUI grounding 모델이 타깃을 고르고, OCR 모델이 exact text를 맡고, MAI-UI가 좁은 crop을 재판독합니다.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71600"/>
            <a:ext cx="155448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4475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212848" y="1371600"/>
            <a:ext cx="224028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44475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/ 구조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53128" y="1371600"/>
            <a:ext cx="233172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44475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역할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784848" y="1371600"/>
            <a:ext cx="237744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44475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한계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162288" y="1371600"/>
            <a:ext cx="196596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44475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1755648"/>
            <a:ext cx="1554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847088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212848" y="1755648"/>
            <a:ext cx="22402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847088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unified GUI agent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53128" y="1755648"/>
            <a:ext cx="23317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847088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full-screen grounding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784848" y="1755648"/>
            <a:ext cx="23774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8470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exact text는 OCR 도움 필요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162288" y="1755648"/>
            <a:ext cx="19659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1847088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2459736"/>
            <a:ext cx="15544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551176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212848" y="2459736"/>
            <a:ext cx="22402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551176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reasoning-heavy agent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453128" y="2459736"/>
            <a:ext cx="233172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2551176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대안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 실험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784848" y="2459736"/>
            <a:ext cx="237744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551176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runtime과 좌표 후처리가 민감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162288" y="2459736"/>
            <a:ext cx="196596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0" y="2551176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58368" y="3163824"/>
            <a:ext cx="1554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255264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2212848" y="3163824"/>
            <a:ext cx="22402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3255264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parser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453128" y="3163824"/>
            <a:ext cx="23317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3255264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local target용 zoom-in sidecar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784848" y="3163824"/>
            <a:ext cx="23774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3255264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OCR authority는 아님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9162288" y="3163824"/>
            <a:ext cx="19659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3255264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58368" y="3867912"/>
            <a:ext cx="15544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3959352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2212848" y="3867912"/>
            <a:ext cx="22402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0" y="3959352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/ document parsing VLM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0.9B급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453128" y="3867912"/>
            <a:ext cx="233172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3959352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OCR 및 구조 추출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784848" y="3867912"/>
            <a:ext cx="237744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3959352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click-grounding planner가 아님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162288" y="3867912"/>
            <a:ext cx="196596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35440" y="3959352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58368" y="4572000"/>
            <a:ext cx="1554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663440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2212848" y="4572000"/>
            <a:ext cx="22402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0" y="4663440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transformers 기반 OCR specialist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 resolution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4453128" y="4572000"/>
            <a:ext cx="23317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26280" y="4663440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영역용 hard OCR fallback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784848" y="4572000"/>
            <a:ext cx="23774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4663440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endpoint와 runtime이 별도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9162288" y="4572000"/>
            <a:ext cx="19659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35440" y="4663440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/v1/ocr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658368" y="5413248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76656" y="5431536"/>
            <a:ext cx="1093622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" y="5559552"/>
            <a:ext cx="10643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 한 줄 요약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822960" y="5715000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판단은 GUI 모델이, exact text authority는 OCR 모델이, 작은 ambiguous crop은 먼저 MAI-UI가 맡습니다.</a:t>
            </a:r>
            <a:endParaRPr lang="en-US" sz="1220" dirty="0"/>
          </a:p>
        </p:txBody>
      </p:sp>
      <p:sp>
        <p:nvSpPr>
          <p:cNvPr id="73" name="Text 71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poc/work2/flask_vlm.py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UI-Venus-1.5-8B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poc/work2에서 full-screen screenshot grounding 기본값으로 가장 적합한 모델입니다.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UI-Venus-1.5-8B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screenshot-driven unified GUI agent로 소개됩니다. 현재 리서치 기준으로는 full-screen 상태 인식, target grounding, 최종 click candidate 선택의 기본값으로 가장 적합합니다.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에이전트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 GUI agent로 구축되었고, mid-training -&gt; offline RL -&gt; online RL -&gt; model merge 흐름이 공개되어 있습니다.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RCS screenshot과 다른 single-frame desktop UI 작업에서 기본 screen_analysis / main_tabs primary로 두는 것이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desktop, web, mobile GUI benchmark의 screenshot grounding에 강합니다.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work2가 이미 채택한 screenshot-first 자동화 흐름과 잘 맞습니다.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영역이 과밀할 때 crop 기반 zoom-in retry와 궁합이 좋습니다.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중요한지 고른 뒤 act하는 흐름에 강합니다.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text, 작은 숫자, dense table의 최종 authority로 두기엔 약합니다.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과밀한 toolbar와 tiny target에서는 crop retry가 필요할 수 있습니다.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exact-string verification을 혼자 맡기면 안 됩니다.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fidelity보다 semantic grounding이 더 강합니다.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full-screen observation은 여기서 시작합니다. exact text evidence는 OCR 모델이 맡고, click 전 불확실한 small crop은 MAI-UI로 다시 확인하는 구성이 적합합니다.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안정적인 full-screen grounding pass가 필요할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panel에서 exact text 추출이 주목적일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docs/setup_vlms/05-ui-tars-vs-others.md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UI-TARS-1.5-7B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agent-style reasoning 모델이 필요할 때 비교할 주력 대안입니다.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UI-TARS-1.5-7B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computer use, browser use, phone use, game / virtual-world task를 다루는 end-to-end multimodal agent로 소개됩니다. 이 저장소에서는 UI-Venus와 정면 비교할 가장 강한 대안입니다.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리저닝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플래너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 기반이며 grounding / computer-use template가 명확하고, thought-before-action과 multi-step agent behavior를 강하게 전면에 둡니다.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UI-Venus와의 primary A/B 비교축, 또는 단순 one-shot grounding보다 action DSL 실험이 필요할 때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multi-step action planning 프레이밍이 강합니다.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UI-Venus와 head-to-head benchmark 축을 만들기 좋습니다.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action-template 중심 접근이 후속 agent 실험에 유리합니다.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reasoning-heavy next-step proposal이 필요할 때 적합합니다.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 경로 특성상 template와 processor 파일에 민감합니다.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absolute coordinate 후처리 중요도가 더 큽니다.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niche industrial UI에서는 단순 single-shot grounding보다 흔들릴 수 있습니다.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여전히 OCR specialist는 아닙니다.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UI-TARS는 primary 대안으로 benchmark하되, 비교 중에는 sidecar 규칙을 고정해야 모델 차이와 escalation 정책이 섞이지 않습니다.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대안 또는 planner-style 실험이 필요할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단순하고 low-variance인 full-screen grounding만 필요할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docs/setup_vlms/05-ui-tars-vs-others.md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MAI-UI-8B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항상-on primary보다 zoom-in sidecar로 보는 편이 적합한 모델입니다.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MAI-UI-8B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vision-centric action parser와 device-cloud collaboration을 강조하는 real-world-centric GUI agent입니다. work2에서는 local crop resolver로 둘 때 가장 가치가 큽니다.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파서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crop retry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계열이며, 하나의 거대한 prompt보다 GroundingAgent와 NavigationAgent를 나눠 설명하는 구조입니다.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모델이 영역을 이미 좁힌 뒤, 작은 버튼이나 icon cluster, label-plus-input pair에 대한 second opinion이 필요할 때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local crop의 zoom-in recheck에 매우 유용합니다.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버튼과 icon cluster grounding에 강합니다.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답변 confidence가 낮을 때 second opinion으로 좋습니다.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항상-on full-screen보다 sidecar escalation에 더 잘 맞습니다.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OCR authority는 아닙니다.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offline 모드에서는 협업 관련 강점을 거의 쓰지 못합니다.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industrial Windows UI의 full-screen 기본값으로는 불확실성이 있습니다.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모델이 먼저 triage한 뒤에 붙일 때 가치가 가장 큽니다.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MAI-UI는 primary full-screen pass 뒤에 붙입니다. 실패 원인이 global state 이해가 아니라 local density일 때 가장 적절한 해답입니다.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타깃이 작고 과밀하거나 local ambiguity가 클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number나 table text가 필요한 경우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docs/setup_vlms/05-ui-tars-vs-others.md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table, structure extraction에 쓰는 기본 OCR sidecar입니다.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text spotting, table, formula, chart, 왜곡된 capture까지 다루는 OCR / document parsing VLM입니다. work2에서는 기본 OCR evidence engine입니다.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VLM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109개 언어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추출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task-keyword 중심 OCR parser로 보는 편이 맞습니다. 긴 instruction prompt보다 OCR:, Spotting:, Table Recognition:, Chart Recognition: 같은 task selector가 더 중요합니다.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작은 값, table, exact label verification이 필요할 때 기본 ocr_service로 두는 것이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text와 structured extraction에서 GUI 모델보다 훨씬 강합니다.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table, chart, formula, multilingual capture를 지원합니다.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파이프라인의 exact string authority 기본값으로 적합합니다.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모델과 같은 proxy chat/completions 경로로 호출할 수 있습니다.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click-grounding planner가 아닙니다.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출력을 compact hint로 정규화할 때 가장 좋습니다.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prompt helper는 기본적으로 OCR:만 노출합니다.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control selection을 GUI 모델 대신 맡기면 안 됩니다.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PaddleOCR-VL은 화면의 텍스트가 실제로 무엇인지 알려주는 역할입니다. 그다음 어떤 텍스트나 field가 중요한지는 GUI 모델이 결정하게 두는 편이 맞습니다.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text, table, panel value가 필요할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화면에서 one-shot click target만 찾고 싶을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docs/research/paddleocr_vl_ui_venus_pipeline_research.md, docs/setup_vlms/07-paddleocr-vl-1.5.md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GOT-OCR-2.0-hf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어려우며 formatting-sensitive한 영역에 쓰는 전용 OCR fallback입니다.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GOT-OCR-2.0-hf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dynamic resolution, global/local module, region-aware OCR 옵션을 가진 scene OCR 모델입니다. 이 스택에서는 작은 crop과 formatting-sensitive case용 fallback입니다.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fallback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OCR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vLLM 경로가 아니라 direct transformers inference용입니다. wrapper가 /v1/ocr를 통해 box, color, format_output, crop_to_patches 같은 OCR 옵션을 노출합니다.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PaddleOCR-VL만으로 부족하고, 실패가 작은 영역이나 code-like text, formatting-sensitive content에 집중될 때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tiny하거나 어려운 local region의 fallback으로 좋습니다.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box와 color 힌트로 region-specific OCR을 지원합니다.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formatting이 중요하고 plain extraction만으로 부족할 때 유용합니다.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schema를 강제하지 않고 OCR control을 직접 노출합니다.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chat 모델과 runtime / endpoint 경로가 다릅니다.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planner도 아니고 full-screen semantic model도 아닙니다.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work2의 chat-only client로는 바로 재사용할 수 없습니다.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항상-on step보다 조건부 fallback으로 쓸 때 적합합니다.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GOT-OCR은 surgical tool처럼 다루는 편이 좋습니다. GUI 모델과 PaddleOCR-VL이 문제 영역을 이미 좁힌 뒤에도 더 깨끗한 exact text가 필요할 때만 호출합니다.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영역이 tiny하거나 blurred되었거나 formatting이 중요할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UI grounding이나 표준 OCR pass만으로 충분할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docs/setup_vlms/08-got-ocr-2.0-hf.md, deploy_vlms/scripts/serve_got_ocr.py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 설명할 Flask 프록시 스택 관점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coworker-facing 계약은 route slug -&gt; model alias -&gt; Flask proxy URL입니다. 클라이언트는 서버 내부 flask_api 소스 코드에 의존하지 않아야 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572768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591056"/>
            <a:ext cx="188366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71907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187452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동료용 task script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2240280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check 뒤에 service slug를 고릅니다.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971800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0088" y="1591056"/>
            <a:ext cx="220370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71907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2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136392" y="18745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poc/work2/flask_vlm.py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36392" y="2240280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slug, model, URL, 기본값의 single source of truth입니다.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32704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50992" y="1591056"/>
            <a:ext cx="22037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296" y="171907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3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797296" y="18745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vlm_client.py / OCR helper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97296" y="2240280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요청을 보내고 응답 텍스트를 정규화합니다.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321040" y="1572768"/>
            <a:ext cx="3035808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9328" y="1591056"/>
            <a:ext cx="2999232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171907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4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485632" y="187452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API proxy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85632" y="2240280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/api/vlm_serve/&lt;service&gt;/v1/* 가 올바른 backend로 라우팅합니다.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706624" y="2029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04104" y="2029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74152" y="2029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13232" y="3246120"/>
            <a:ext cx="379476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264408"/>
            <a:ext cx="37581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3392424"/>
            <a:ext cx="3465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패턴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77824" y="354787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 공유할 프록시 URL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7824" y="3913632"/>
            <a:ext cx="34655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http://&lt;host&gt;/api/vlm_serve/ui-venus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http://&lt;host&gt;/api/vlm_serve/ui-tars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http://&lt;host&gt;/api/vlm_serve/mai-ui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http://&lt;host&gt;/api/vlm_serve/paddleocr-vl-1.5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http://&lt;host&gt;/api/vlm_serve/got-ocr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4736592" y="3246120"/>
            <a:ext cx="315468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64408"/>
            <a:ext cx="31181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392424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기본값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901184" y="35478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pipeline 스냅샷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01184" y="3913632"/>
            <a:ext cx="28254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screen_analysis_service = ui-venus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main_tabs_service = ui-venus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ocr_service = paddleocr-vl-1.5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ocr_pipeline_enabled = true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119872" y="3246120"/>
            <a:ext cx="315468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38160" y="3264408"/>
            <a:ext cx="311810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84464" y="3392424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포인트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8284464" y="35478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baseline 두 개도 같이 존재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84464" y="3913632"/>
            <a:ext cx="28254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Kimi-K2.5와 Qwen3-VL-30B-Instruct도 flask_vlm.py에 등록되어 있지만, 설치된 5개 프록시 route가 아니라 회사 direct LLM base URL을 사용합니다.</a:t>
            </a:r>
            <a:endParaRPr lang="en-US" sz="895" dirty="0"/>
          </a:p>
        </p:txBody>
      </p:sp>
      <p:sp>
        <p:nvSpPr>
          <p:cNvPr id="47" name="Text 45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poc/work2/flask_vlm.py, docs/setup_vlms/README.md, docs/setup_vlms/03-operations-and-repo-integration.md</a:t>
            </a:r>
            <a:endParaRPr lang="en-US" sz="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사용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poc/work2에서 모델 호출하는 방법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기본 습관은 connection_check.py를 먼저 실행하고, 그다음 명시적인 service slug로 Work2VLMClient를 생성하는 것입니다.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71600"/>
            <a:ext cx="5989320" cy="3639312"/>
          </a:xfrm>
          <a:prstGeom prst="roundRect">
            <a:avLst>
              <a:gd name="adj" fmla="val 2010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99616"/>
            <a:ext cx="566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OpenAI-compatible 호출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59536" y="1719072"/>
            <a:ext cx="566013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poc.work2.vlm_client import Work2VLMClient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Work2VLMClient(service_slug="ui-venus")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client.chat_with_image_path(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image_path=Path("debug_images/login.webp"),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system_message="Respond only with JSON.",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user_text="Find clickable UI elements.",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print(resp.text)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print(resp.token_usage)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903720" y="1371600"/>
            <a:ext cx="4617720" cy="1901952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22008" y="1389888"/>
            <a:ext cx="458114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1517904"/>
            <a:ext cx="4288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ROUTE별 호출 방식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068312" y="1673352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4개는 vlm_client.py로 호출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68312" y="2039112"/>
            <a:ext cx="42885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 -&gt; /v1/chat/completions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 -&gt; /v1/chat/completions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 -&gt; /v1/chat/completions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paddleocr-vl-1.5 -&gt; /v1/chat/completions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got-ocr만 예외이며 /v1/ocr를 사용합니다.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03720" y="3493008"/>
            <a:ext cx="4617720" cy="1517904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22008" y="3511296"/>
            <a:ext cx="458114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3639312"/>
            <a:ext cx="4288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먼저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068312" y="379476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 있는 서비스를 추측하지 않기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68312" y="4160520"/>
            <a:ext cx="4288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run python poc/work2/connection_check.py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비교 전에 /api/vlm_serve/health와 각 route의 /v1/models를 먼저 확인합니다.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94944" y="5321808"/>
            <a:ext cx="10826496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5340096"/>
            <a:ext cx="1078992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468112"/>
            <a:ext cx="10497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포인트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59536" y="5623560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service slug를 설명하고, backend port는 구현 상세로만 설명합니다.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poc/work2/vlm_client.py, poc/work2/connection_check.py, docs/setup_vlms/03-operations-and-repo-integration.md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I/O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보내는 방식과 결과를 받는 방식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저장소의 정책은 명확합니다. 디버그 캡처는 로컬에 JPEG로 저장하고, VLM API 호출 전에는 WebP로 변환해 payload를 줄입니다.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716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89888"/>
            <a:ext cx="362102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517904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정책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59536" y="167335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디버그와 네트워크 payload 분리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08483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199339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스크린샷과 marked overlay는 JPEG로 저장합니다.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14400" y="2395728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30428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전송 이미지는 quality=90 WebP로 변환합니다.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14400" y="2706624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261518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운영 모드는 prompt당 이미지 1장입니다.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535424" y="1371600"/>
            <a:ext cx="3273552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53712" y="1389888"/>
            <a:ext cx="323697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517904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입력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700016" y="16733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Work2VLMClient가 받는 입력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202996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193852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image_path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1945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image_bytes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4754880" y="254203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4505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base64 image string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4754880" y="27980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70662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JPEG / PNG / WebP 자동 MIME 감지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7991856" y="137160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10144" y="1389888"/>
            <a:ext cx="349300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151790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포맷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156448" y="1673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스타일 image_url payload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56448" y="2039112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 -&gt; user -&gt; [text, image_url]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image_url.url = data:image/webp;base64,...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model, temperature, max_tokens를 같은 JSON body에 함께 보냅니다.</a:t>
            </a:r>
            <a:endParaRPr lang="en-US" sz="895" dirty="0"/>
          </a:p>
        </p:txBody>
      </p:sp>
      <p:sp>
        <p:nvSpPr>
          <p:cNvPr id="36" name="Shape 34"/>
          <p:cNvSpPr/>
          <p:nvPr/>
        </p:nvSpPr>
        <p:spPr>
          <a:xfrm>
            <a:off x="694944" y="3456432"/>
            <a:ext cx="5065776" cy="2029968"/>
          </a:xfrm>
          <a:prstGeom prst="roundRect">
            <a:avLst>
              <a:gd name="adj" fmla="val 3604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3584448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요청 구조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59536" y="3803904"/>
            <a:ext cx="4736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"ui-venus-1.5-8b",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"system", "content": "Respond only with JSON."},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 "content": [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{"type": "text", "text": "&lt;prompt&gt;"},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{"type": "image_url",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"image_url": {"url": "data:image/webp;base64,..."}}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980176" y="3456432"/>
            <a:ext cx="5559552" cy="2139696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98464" y="3474720"/>
            <a:ext cx="552297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602736"/>
            <a:ext cx="5230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추출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144768" y="3758184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vlm_client.py의 파싱 순서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217920" y="41330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4041648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choices[].message.content</a:t>
            </a:r>
            <a:endParaRPr lang="en-US" sz="885" dirty="0"/>
          </a:p>
        </p:txBody>
      </p:sp>
      <p:sp>
        <p:nvSpPr>
          <p:cNvPr id="45" name="Shape 43"/>
          <p:cNvSpPr/>
          <p:nvPr/>
        </p:nvSpPr>
        <p:spPr>
          <a:xfrm>
            <a:off x="6217920" y="43982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4306824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streamed output용 choices[].delta</a:t>
            </a:r>
            <a:endParaRPr lang="en-US" sz="885" dirty="0"/>
          </a:p>
        </p:txBody>
      </p:sp>
      <p:sp>
        <p:nvSpPr>
          <p:cNvPr id="47" name="Shape 45"/>
          <p:cNvSpPr/>
          <p:nvPr/>
        </p:nvSpPr>
        <p:spPr>
          <a:xfrm>
            <a:off x="6217920" y="46634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4572000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top-level output_text / text / content</a:t>
            </a:r>
            <a:endParaRPr lang="en-US" sz="885" dirty="0"/>
          </a:p>
        </p:txBody>
      </p:sp>
      <p:sp>
        <p:nvSpPr>
          <p:cNvPr id="49" name="Shape 47"/>
          <p:cNvSpPr/>
          <p:nvPr/>
        </p:nvSpPr>
        <p:spPr>
          <a:xfrm>
            <a:off x="6217920" y="492861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4837176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body가 plain JSON이 아니면 SSE 파싱 fallback</a:t>
            </a:r>
            <a:endParaRPr lang="en-US" sz="885" dirty="0"/>
          </a:p>
        </p:txBody>
      </p:sp>
      <p:sp>
        <p:nvSpPr>
          <p:cNvPr id="51" name="Shape 49"/>
          <p:cNvSpPr/>
          <p:nvPr/>
        </p:nvSpPr>
        <p:spPr>
          <a:xfrm>
            <a:off x="6217920" y="519379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4224" y="5102352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usage는 token_usage로 저장되어 로그와 보고에 활용</a:t>
            </a:r>
            <a:endParaRPr lang="en-US" sz="885" dirty="0"/>
          </a:p>
        </p:txBody>
      </p:sp>
      <p:sp>
        <p:nvSpPr>
          <p:cNvPr id="53" name="Text 51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poc/work2/vlm_client.py, poc/work2/util/image_utils.py, AGENTS.md 저장소 규칙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저장소에서 좋은 프롬프트 패턴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generic한 긴 프롬프트가 아니라 작업별 계약입니다. 좌표계 명시, strict JSON, compact OCR evidence가 중요합니다.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71600"/>
            <a:ext cx="4251960" cy="4553712"/>
          </a:xfrm>
          <a:prstGeom prst="roundRect">
            <a:avLst>
              <a:gd name="adj" fmla="val 172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89888"/>
            <a:ext cx="42153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517904"/>
            <a:ext cx="3922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규칙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59536" y="1673352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프롬프트의 5가지 공통점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08483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1993392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schema의 JSON만 반환하게 합니다.</a:t>
            </a:r>
            <a:endParaRPr lang="en-US" sz="935" dirty="0"/>
          </a:p>
        </p:txBody>
      </p:sp>
      <p:sp>
        <p:nvSpPr>
          <p:cNvPr id="15" name="Shape 13"/>
          <p:cNvSpPr/>
          <p:nvPr/>
        </p:nvSpPr>
        <p:spPr>
          <a:xfrm>
            <a:off x="914400" y="2478024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386584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pixels 또는 relative_1000처럼 좌표계를 명시합니다.</a:t>
            </a:r>
            <a:endParaRPr lang="en-US" sz="935" dirty="0"/>
          </a:p>
        </p:txBody>
      </p:sp>
      <p:sp>
        <p:nvSpPr>
          <p:cNvPr id="17" name="Shape 15"/>
          <p:cNvSpPr/>
          <p:nvPr/>
        </p:nvSpPr>
        <p:spPr>
          <a:xfrm>
            <a:off x="914400" y="2871216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2779776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중심점이 아니라 click-safe point를 요구합니다.</a:t>
            </a:r>
            <a:endParaRPr lang="en-US" sz="935" dirty="0"/>
          </a:p>
        </p:txBody>
      </p:sp>
      <p:sp>
        <p:nvSpPr>
          <p:cNvPr id="19" name="Shape 17"/>
          <p:cNvSpPr/>
          <p:nvPr/>
        </p:nvSpPr>
        <p:spPr>
          <a:xfrm>
            <a:off x="914400" y="3264408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172968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UI가 과밀하면 target semantics를 더 자세히 적습니다.</a:t>
            </a:r>
            <a:endParaRPr lang="en-US" sz="935" dirty="0"/>
          </a:p>
        </p:txBody>
      </p:sp>
      <p:sp>
        <p:nvSpPr>
          <p:cNvPr id="21" name="Shape 19"/>
          <p:cNvSpPr/>
          <p:nvPr/>
        </p:nvSpPr>
        <p:spPr>
          <a:xfrm>
            <a:off x="914400" y="3657600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566160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OCR은 raw dump가 아니라 compact hint로 넣습니다.</a:t>
            </a:r>
            <a:endParaRPr lang="en-US" sz="935" dirty="0"/>
          </a:p>
        </p:txBody>
      </p:sp>
      <p:sp>
        <p:nvSpPr>
          <p:cNvPr id="23" name="Shape 21"/>
          <p:cNvSpPr/>
          <p:nvPr/>
        </p:nvSpPr>
        <p:spPr>
          <a:xfrm>
            <a:off x="5175504" y="1371600"/>
            <a:ext cx="2880360" cy="2084832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1389888"/>
            <a:ext cx="284378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1517904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분석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5340096" y="167335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인식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0096" y="2039112"/>
            <a:ext cx="255117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schema는 state_id, state_name, confidence, description, ui_elements, suggested_actions를 요구합니다.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좌표는 이미지 크기 안의 정수 픽셀입니다.</a:t>
            </a:r>
            <a:endParaRPr lang="en-US" sz="895" dirty="0"/>
          </a:p>
        </p:txBody>
      </p:sp>
      <p:sp>
        <p:nvSpPr>
          <p:cNvPr id="28" name="Shape 26"/>
          <p:cNvSpPr/>
          <p:nvPr/>
        </p:nvSpPr>
        <p:spPr>
          <a:xfrm>
            <a:off x="8247888" y="1371600"/>
            <a:ext cx="3273552" cy="2084832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66176" y="1389888"/>
            <a:ext cx="3236976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1517904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 프롬프트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412480" y="16733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특화 grounding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2039112"/>
            <a:ext cx="29443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RCS 프롬프트는 타깃을 개별 정의하고, relative_1000을 강제하며, control 내부의 safe click point 위치를 명시합니다.</a:t>
            </a:r>
            <a:endParaRPr lang="en-US" sz="895" dirty="0"/>
          </a:p>
        </p:txBody>
      </p:sp>
      <p:sp>
        <p:nvSpPr>
          <p:cNvPr id="33" name="Shape 31"/>
          <p:cNvSpPr/>
          <p:nvPr/>
        </p:nvSpPr>
        <p:spPr>
          <a:xfrm>
            <a:off x="5175504" y="3694176"/>
            <a:ext cx="2880360" cy="2231136"/>
          </a:xfrm>
          <a:prstGeom prst="roundRect">
            <a:avLst>
              <a:gd name="adj" fmla="val 327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3712464"/>
            <a:ext cx="284378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0096" y="384048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340096" y="399592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프롬프트는 최소화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0096" y="4361688"/>
            <a:ext cx="2551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PaddleOCR-VL은 system_message를 비우고 OCR: 같은 task keyword만 보내는 편이 안정적입니다.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구조나 위치가 중요하면 Spotting:, Table Recognition:, Chart Recognition:으로 분기합니다.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8247888" y="3694176"/>
            <a:ext cx="3273552" cy="2231136"/>
          </a:xfrm>
          <a:prstGeom prst="roundRect">
            <a:avLst>
              <a:gd name="adj" fmla="val 327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66176" y="3712464"/>
            <a:ext cx="3236976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3840480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피해야 할 것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412480" y="399592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좋지 않은 프롬프트 패턴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12480" y="4361688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모델에게 action planning을 맡기지 않습니다.</a:t>
            </a:r>
            <a:endParaRPr lang="en-US" sz="885" dirty="0"/>
          </a:p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모델을 final exact-text authority로 두지 않습니다.</a:t>
            </a:r>
            <a:endParaRPr lang="en-US" sz="885" dirty="0"/>
          </a:p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형식을 모호하게 두지 않습니다.</a:t>
            </a:r>
            <a:endParaRPr lang="en-US" sz="885" dirty="0"/>
          </a:p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raw text 전체를 main prompt에 밀어 넣지 않습니다.</a:t>
            </a:r>
            <a:endParaRPr lang="en-US" sz="885" dirty="0"/>
          </a:p>
        </p:txBody>
      </p:sp>
      <p:sp>
        <p:nvSpPr>
          <p:cNvPr id="43" name="Text 41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poc/work2/prompts/screen_analysis.py, poc/work2/prompts/login_rcs.py, poc/work2/prompts/rcs_main_tabs.py, poc/work2/prompts/ocr_assist.py</a:t>
            </a:r>
            <a:endParaRPr lang="en-US" sz="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사용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모델 역할을 헷갈리지 않고 쓰는 방법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PaddleOCR-VL은 chat completions 기반 기본 OCR sidecar이고, GOT-OCR은 별도 /v1/ocr route를 쓰는 hard fallback입니다.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53312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8132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vlm_client.py로 PaddleOCR-VL 호출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59536" y="1700784"/>
            <a:ext cx="51114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poc.work2.vlm_client import Work2VLMClient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poc.work2.prompts.ocr_assist import build_ocr_assist_prompt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system_msg, user_text = build_ocr_assist_prompt(1920, 1080)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Work2VLMClient(service_slug="paddleocr-vl-1.5")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client.chat_with_image_path(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image_path="panel.webp",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system_message=system_msg,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user_text=user_text,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print(resp.text)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419088" y="1353312"/>
            <a:ext cx="5084064" cy="2057400"/>
          </a:xfrm>
          <a:prstGeom prst="roundRect">
            <a:avLst>
              <a:gd name="adj" fmla="val 355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1371600"/>
            <a:ext cx="5047488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4996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KEYWORD 분기 시점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83680" y="16550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상황에 OCR:만 쓰지 않기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56832" y="208483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993392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OCR: 넓은 범위 텍스트 추출</a:t>
            </a:r>
            <a:endParaRPr lang="en-US" sz="915" dirty="0"/>
          </a:p>
        </p:txBody>
      </p:sp>
      <p:sp>
        <p:nvSpPr>
          <p:cNvPr id="18" name="Shape 16"/>
          <p:cNvSpPr/>
          <p:nvPr/>
        </p:nvSpPr>
        <p:spPr>
          <a:xfrm>
            <a:off x="6656832" y="2395728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2304288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Spotting: 텍스트 + 위치</a:t>
            </a:r>
            <a:endParaRPr lang="en-US" sz="915" dirty="0"/>
          </a:p>
        </p:txBody>
      </p:sp>
      <p:sp>
        <p:nvSpPr>
          <p:cNvPr id="20" name="Shape 18"/>
          <p:cNvSpPr/>
          <p:nvPr/>
        </p:nvSpPr>
        <p:spPr>
          <a:xfrm>
            <a:off x="6656832" y="270662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261518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Recognition: 구조화된 표와 그리드</a:t>
            </a:r>
            <a:endParaRPr lang="en-US" sz="915" dirty="0"/>
          </a:p>
        </p:txBody>
      </p:sp>
      <p:sp>
        <p:nvSpPr>
          <p:cNvPr id="22" name="Shape 20"/>
          <p:cNvSpPr/>
          <p:nvPr/>
        </p:nvSpPr>
        <p:spPr>
          <a:xfrm>
            <a:off x="6656832" y="30175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2926080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 Recognition: 차트 레이블과 값</a:t>
            </a:r>
            <a:endParaRPr lang="en-US" sz="915" dirty="0"/>
          </a:p>
        </p:txBody>
      </p:sp>
      <p:sp>
        <p:nvSpPr>
          <p:cNvPr id="24" name="Shape 22"/>
          <p:cNvSpPr/>
          <p:nvPr/>
        </p:nvSpPr>
        <p:spPr>
          <a:xfrm>
            <a:off x="694944" y="3675888"/>
            <a:ext cx="5440680" cy="2066544"/>
          </a:xfrm>
          <a:prstGeom prst="roundRect">
            <a:avLst>
              <a:gd name="adj" fmla="val 3540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80390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 전용 endpoint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59536" y="4023360"/>
            <a:ext cx="51114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base64, requests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image_b64 = base64.b64encode(open("crop.jpg", "rb").read()).decode()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requests.post(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"http://&lt;host&gt;/api/vlm_serve/got-ocr/v1/ocr",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"image": image_b64,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"box": [x1, y1, x2, y2],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"format_output": True,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"crop_to_patches": False,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timeout=120,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print(resp.json()["text"])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419088" y="3675888"/>
            <a:ext cx="5084064" cy="2066544"/>
          </a:xfrm>
          <a:prstGeom prst="roundRect">
            <a:avLst>
              <a:gd name="adj" fmla="val 354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37376" y="3694176"/>
            <a:ext cx="5047488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221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규칙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583680" y="39776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OCR 모델이 답해야 하는가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56832" y="4407408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4315968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table, structured extraction은 PaddleOCR-VL을 먼저 사용합니다.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56832" y="471830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462686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formatting이 중요하거나 crop이 여전히 unreadable하면 GOT-OCR로 갑니다.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56832" y="502920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4937760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string authority는 GUI grounding이 아니라 OCR 결과에 둡니다.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56832" y="5340096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3136" y="5248656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OCR과 GUI grounding이 충돌하면 바로 act하지 말고 다시 관찰합니다.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poc/work2/prompts/ocr_assist.py, docs/research/paddleocr_vl_ui_venus_pipeline_research.md, deploy_vlms/scripts/serve_got_ocr.py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파이프라인과 escalation 규칙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리서치는 단계형 파이프라인으로 수렴합니다. GUI 모델로 observe하고, MAI-UI로 local escalation하고, OCR로 exact text를 확인한 뒤에만 act합니다.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517904"/>
            <a:ext cx="2048256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OBSERVE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화면은 UI-Venus 또는 UI-TARS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090672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1517904"/>
            <a:ext cx="204825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RETRY LOCAL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255264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과밀한 crop만 MAI-UI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650992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517904"/>
            <a:ext cx="2048256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5584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READ EXACT TEXT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815584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text와 table은 PaddleOCR-VL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75320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93608" y="1517904"/>
            <a:ext cx="2048256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FALLBACK OCR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439912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 small-region만 GOT-OCR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285292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94376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2784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561320" y="1499616"/>
            <a:ext cx="932688" cy="1225296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79608" y="1517904"/>
            <a:ext cx="896112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25912" y="164592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ACT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725912" y="18013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action 뒤에 verify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" y="32004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218688"/>
            <a:ext cx="544982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3346704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자동화 흐름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77824" y="3502152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Grounding-heavy 작업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50976" y="3931920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384048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full-screen screenshot -&gt; UI-Venus입니다.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50976" y="4242816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4151376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타깃이 작거나 과밀하면 crop 후 MAI-UI를 호출합니다.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950976" y="455371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446227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선택이 exact text에 의존하면 같은 crop을 PaddleOCR-VL로 읽습니다.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50976" y="4864608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4773168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 또는 tiny text가 여전히 애매하면 GOT-OCR로 fallback합니다.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950976" y="5175504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5084064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좌표는 GUI 모델에서, exact string은 OCR 모델에서 가져옵니다.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6419088" y="3200400"/>
            <a:ext cx="5102352" cy="1170432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37376" y="3218688"/>
            <a:ext cx="5065776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346704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EXTRACTION-HEAVY 변형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583680" y="350215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클릭보다 값 추출이 중요하면 OCR을 먼저 사용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83680" y="3867912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 -&gt; compact OCR anchor -&gt; UI-Venus semantic pass -&gt; hard region만 GOT 검증</a:t>
            </a:r>
            <a:endParaRPr lang="en-US" sz="925" dirty="0"/>
          </a:p>
        </p:txBody>
      </p:sp>
      <p:sp>
        <p:nvSpPr>
          <p:cNvPr id="51" name="Shape 49"/>
          <p:cNvSpPr/>
          <p:nvPr/>
        </p:nvSpPr>
        <p:spPr>
          <a:xfrm>
            <a:off x="6419088" y="4553712"/>
            <a:ext cx="5102352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37376" y="4572000"/>
            <a:ext cx="5065776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4700016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중재 규칙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583680" y="48554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OCR과 GUI grounding이 충돌하면 action을 멈추고 다시 관찰합니다.</a:t>
            </a:r>
            <a:endParaRPr lang="en-US" sz="1110" dirty="0"/>
          </a:p>
        </p:txBody>
      </p:sp>
      <p:sp>
        <p:nvSpPr>
          <p:cNvPr id="55" name="Text 5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docs/research/paddleocr_vl_ui_venus_pipeline_research.md</a:t>
            </a:r>
            <a:endParaRPr lang="en-US" sz="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설명해야 할 운영 토폴로지와 셋업 포인트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동료에게는 사용법이 단순해야 하지만, deck 안에서는 포트 계획, runtime 분리, health-check 루틴을 분명히 보여줘야 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53312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71600"/>
            <a:ext cx="476402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499616"/>
            <a:ext cx="4471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토폴로지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59536" y="1655064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GPU와 포트 배치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1920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0976" y="1938528"/>
            <a:ext cx="188366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0665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0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097280" y="22219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GUI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8775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8001 -&gt; UI-Venus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8003 -&gt; UI-TARS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90672" y="1920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1938528"/>
            <a:ext cx="188366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20665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1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255264" y="22219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Sidecar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55264" y="258775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8002 -&gt; MAI-UI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8004 -&gt; PaddleOCR-VL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8005 -&gt; GOT-OCR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32688" y="3913632"/>
            <a:ext cx="4078224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0976" y="3931920"/>
            <a:ext cx="404164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05993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분리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097280" y="4279392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경로: UI-Venus, UI-TARS, MAI-UI, PaddleOCR-VL</a:t>
            </a:r>
            <a:endParaRPr lang="en-US" sz="925" dirty="0"/>
          </a:p>
          <a:p>
            <a:pPr indent="0" marL="0">
              <a:buNone/>
            </a:pPr>
            <a:r>
              <a:rPr lang="en-US" sz="92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transformers wrapper: GOT-OCR</a:t>
            </a:r>
            <a:endParaRPr lang="en-US" sz="925" dirty="0"/>
          </a:p>
        </p:txBody>
      </p:sp>
      <p:sp>
        <p:nvSpPr>
          <p:cNvPr id="27" name="Shape 25"/>
          <p:cNvSpPr/>
          <p:nvPr/>
        </p:nvSpPr>
        <p:spPr>
          <a:xfrm>
            <a:off x="5742432" y="1353312"/>
            <a:ext cx="5779008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1371600"/>
            <a:ext cx="57424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7024" y="149961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루틴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907024" y="1655064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bring-up 흐름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61888" y="208483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1993392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docs/setup_vlms/README.md와 01-layout-and-settings.md를 봅니다.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5961888" y="238658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2295144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deploy_vlms/scripts/의 wrapper script로 모델을 기동합니다.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5961888" y="26883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2596896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테스트 전에 /v1/models 또는 /api/vlm_serve/health를 확인합니다.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5961888" y="29900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898648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backend port 대신 Flask proxy URL을 동료에게 공유합니다.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5742432" y="3621024"/>
            <a:ext cx="5779008" cy="2249424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3639312"/>
            <a:ext cx="5742432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07024" y="376732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907024" y="3922776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주로 필요한 명령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07024" y="4288536"/>
            <a:ext cx="54498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run python poc/work2/connection_check.py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scripts/start_ui_venus.py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scripts/start_mai_ui.py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scripts/start_ui_tars.py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scripts/start_paddleocr_vl.py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scripts/serve_got_ocr.py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docs/setup_vlms/README.md, docs/setup_vlms/01-layout-and-settings.md, docs/setup_vlms/02-serve-ui-venus-and-mai-ui.md, docs/setup_vlms/08-got-ocr-2.0-hf.md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SK hynix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자동화를 위한 Flask API + VLM 스택</dc:title>
  <dc:subject>동료용 Flask API 및 VLM 소개</dc:subject>
  <dc:creator>OpenAI Codex</dc:creator>
  <cp:lastModifiedBy>OpenAI Codex</cp:lastModifiedBy>
  <cp:revision>1</cp:revision>
  <dcterms:created xsi:type="dcterms:W3CDTF">2026-03-17T07:13:20Z</dcterms:created>
  <dcterms:modified xsi:type="dcterms:W3CDTF">2026-03-17T07:13:20Z</dcterms:modified>
</cp:coreProperties>
</file>